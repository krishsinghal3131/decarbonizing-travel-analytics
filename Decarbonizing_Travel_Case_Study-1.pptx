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  <Relationship Id="rId16" Type="http://schemas.openxmlformats.org/officeDocument/2006/relationships/slide" Target="slides/slide10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../media/dash-overview.png"/><Relationship Id="rId2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../media/dash-benchmarking.png"/><Relationship Id="rId2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../media/dash-drilldown.png"/><Relationship Id="rId2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548640" y="548640"/>
            <a:ext cx="320040" cy="320040"/>
          </a:xfrm>
          <a:prstGeom prst="roundRect">
            <a:avLst>
              <a:gd name="adj" fmla="val 50000"/>
            </a:avLst>
          </a:prstGeom>
          <a:noFill/>
          <a:ln w="19050">
            <a:solidFill>
              <a:srgbClr val="B8892B"/>
            </a:solidFill>
          </a:ln>
        </p:spPr>
      </p:sp>
      <p:sp>
        <p:nvSpPr>
          <p:cNvPr id="3" name="Text 3"/>
          <p:cNvSpPr/>
          <p:nvPr/>
        </p:nvSpPr>
        <p:spPr>
          <a:xfrm>
            <a:off x="548640" y="53949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892B"/>
                </a:solidFill>
                <a:latin typeface="Lora"/>
                <a:ea typeface="Lora"/>
                <a:cs typeface="Lora"/>
              </a:rPr>
              <a:t>D</a:t>
            </a:r>
          </a:p>
        </p:txBody>
      </p:sp>
      <p:sp>
        <p:nvSpPr>
          <p:cNvPr id="4" name="Text 4"/>
          <p:cNvSpPr/>
          <p:nvPr/>
        </p:nvSpPr>
        <p:spPr>
          <a:xfrm>
            <a:off x="960120" y="548640"/>
            <a:ext cx="60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PROJECT CASE STUDY</a:t>
            </a:r>
          </a:p>
        </p:txBody>
      </p:sp>
      <p:sp>
        <p:nvSpPr>
          <p:cNvPr id="5" name="Text 5"/>
          <p:cNvSpPr/>
          <p:nvPr/>
        </p:nvSpPr>
        <p:spPr>
          <a:xfrm>
            <a:off x="548640" y="1005840"/>
            <a:ext cx="8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FE0D2"/>
                </a:solidFill>
                <a:latin typeface="Poppins"/>
                <a:ea typeface="Poppins"/>
                <a:cs typeface="Poppins"/>
              </a:rPr>
              <a:t>PROCESS MINING  ×  MACHINE LEARNING  ×  DATA ANALYTICS</a:t>
            </a:r>
          </a:p>
        </p:txBody>
      </p:sp>
      <p:sp>
        <p:nvSpPr>
          <p:cNvPr id="6" name="Text 6"/>
          <p:cNvSpPr/>
          <p:nvPr/>
        </p:nvSpPr>
        <p:spPr>
          <a:xfrm>
            <a:off x="548640" y="1737360"/>
            <a:ext cx="95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Lora"/>
                <a:ea typeface="Lora"/>
                <a:cs typeface="Lora"/>
              </a:rPr>
              <a:t>Decarbonizing Travel</a:t>
            </a:r>
          </a:p>
        </p:txBody>
      </p:sp>
      <p:sp>
        <p:nvSpPr>
          <p:cNvPr id="7" name="Text 7"/>
          <p:cNvSpPr/>
          <p:nvPr/>
        </p:nvSpPr>
        <p:spPr>
          <a:xfrm>
            <a:off x="548640" y="2834640"/>
            <a:ext cx="820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E8D9A8"/>
                </a:solidFill>
                <a:latin typeface="Poppins"/>
                <a:ea typeface="Poppins"/>
                <a:cs typeface="Poppins"/>
              </a:rPr>
              <a:t>An end-to-end emissions analytics platform for corporate travel</a:t>
            </a:r>
          </a:p>
        </p:txBody>
      </p:sp>
      <p:sp>
        <p:nvSpPr>
          <p:cNvPr id="8" name="Text 8"/>
          <p:cNvSpPr/>
          <p:nvPr/>
        </p:nvSpPr>
        <p:spPr>
          <a:xfrm>
            <a:off x="548640" y="3383280"/>
            <a:ext cx="76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50" dirty="0">
                <a:solidFill>
                  <a:srgbClr val="D9E8DE"/>
                </a:solidFill>
                <a:latin typeface="Poppins"/>
                <a:ea typeface="Poppins"/>
                <a:cs typeface="Poppins"/>
              </a:rPr>
              <a:t>A data-driven system that combines process mining, predictive modeling, and an interactive dashboard to identify, predict, and reduce the carbon footprint of business travel.</a:t>
            </a:r>
          </a:p>
        </p:txBody>
      </p:sp>
      <p:sp>
        <p:nvSpPr>
          <p:cNvPr id="9" name="Oval 9"/>
          <p:cNvSpPr/>
          <p:nvPr/>
        </p:nvSpPr>
        <p:spPr>
          <a:xfrm>
            <a:off x="9300000" y="3400000"/>
            <a:ext cx="2600000" cy="2600000"/>
          </a:xfrm>
          <a:prstGeom prst="ellipse">
            <a:avLst/>
          </a:prstGeom>
          <a:solidFill>
            <a:srgbClr val="B8892B">
              <a:alpha val="10000"/>
            </a:srgbClr>
          </a:solidFill>
          <a:ln>
            <a:noFill/>
          </a:ln>
        </p:spPr>
      </p:sp>
      <p:sp>
        <p:nvSpPr>
          <p:cNvPr id="10" name="Oval 10"/>
          <p:cNvSpPr/>
          <p:nvPr/>
        </p:nvSpPr>
        <p:spPr>
          <a:xfrm>
            <a:off x="10100000" y="4400000"/>
            <a:ext cx="2100000" cy="2100000"/>
          </a:xfrm>
          <a:prstGeom prst="ellipse">
            <a:avLst/>
          </a:prstGeom>
          <a:solidFill>
            <a:srgbClr val="1F8A5F">
              <a:alpha val="22000"/>
            </a:srgbClr>
          </a:solidFill>
          <a:ln>
            <a:noFill/>
          </a:ln>
        </p:spPr>
      </p:sp>
      <p:sp>
        <p:nvSpPr>
          <p:cNvPr id="11" name="Oval 11"/>
          <p:cNvSpPr/>
          <p:nvPr/>
        </p:nvSpPr>
        <p:spPr>
          <a:xfrm>
            <a:off x="8500000" y="5100000"/>
            <a:ext cx="1300000" cy="1300000"/>
          </a:xfrm>
          <a:prstGeom prst="ellipse">
            <a:avLst/>
          </a:prstGeom>
          <a:solidFill>
            <a:srgbClr val="1F8A5F">
              <a:alpha val="14000"/>
            </a:srgbClr>
          </a:solidFill>
          <a:ln>
            <a:noFill/>
          </a:ln>
        </p:spPr>
      </p:sp>
      <p:sp>
        <p:nvSpPr>
          <p:cNvPr id="12" name="Line 12"/>
          <p:cNvSpPr/>
          <p:nvPr/>
        </p:nvSpPr>
        <p:spPr>
          <a:xfrm>
            <a:off x="548640" y="5486400"/>
            <a:ext cx="11094720" cy="0"/>
          </a:xfrm>
          <a:prstGeom prst="line">
            <a:avLst/>
          </a:prstGeom>
          <a:noFill/>
          <a:ln w="9525">
            <a:solidFill>
              <a:srgbClr val="1C4A38"/>
            </a:solidFill>
          </a:ln>
        </p:spPr>
      </p:sp>
      <p:sp>
        <p:nvSpPr>
          <p:cNvPr id="13" name="Shape 13"/>
          <p:cNvSpPr/>
          <p:nvPr/>
        </p:nvSpPr>
        <p:spPr>
          <a:xfrm>
            <a:off x="548640" y="5760720"/>
            <a:ext cx="1783080" cy="41148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5B48"/>
            </a:solidFill>
          </a:ln>
        </p:spPr>
      </p:sp>
      <p:sp>
        <p:nvSpPr>
          <p:cNvPr id="14" name="Text 14"/>
          <p:cNvSpPr/>
          <p:nvPr/>
        </p:nvSpPr>
        <p:spPr>
          <a:xfrm>
            <a:off x="548640" y="57515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8DE"/>
                </a:solidFill>
                <a:latin typeface="Poppins"/>
                <a:ea typeface="Poppins"/>
                <a:cs typeface="Poppins"/>
              </a:rPr>
              <a:t>Celonis Process Mining</a:t>
            </a:r>
          </a:p>
        </p:txBody>
      </p:sp>
      <p:sp>
        <p:nvSpPr>
          <p:cNvPr id="15" name="Shape 15"/>
          <p:cNvSpPr/>
          <p:nvPr/>
        </p:nvSpPr>
        <p:spPr>
          <a:xfrm>
            <a:off x="2468880" y="5760720"/>
            <a:ext cx="1371600" cy="41148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5B48"/>
            </a:solidFill>
          </a:ln>
        </p:spPr>
      </p:sp>
      <p:sp>
        <p:nvSpPr>
          <p:cNvPr id="16" name="Text 16"/>
          <p:cNvSpPr/>
          <p:nvPr/>
        </p:nvSpPr>
        <p:spPr>
          <a:xfrm>
            <a:off x="2468880" y="575157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8DE"/>
                </a:solidFill>
                <a:latin typeface="Poppins"/>
                <a:ea typeface="Poppins"/>
                <a:cs typeface="Poppins"/>
              </a:rPr>
              <a:t>Python · XGBoost</a:t>
            </a:r>
          </a:p>
        </p:txBody>
      </p:sp>
      <p:sp>
        <p:nvSpPr>
          <p:cNvPr id="17" name="Shape 17"/>
          <p:cNvSpPr/>
          <p:nvPr/>
        </p:nvSpPr>
        <p:spPr>
          <a:xfrm>
            <a:off x="3977640" y="5760720"/>
            <a:ext cx="480060" cy="41148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5B48"/>
            </a:solidFill>
          </a:ln>
        </p:spPr>
      </p:sp>
      <p:sp>
        <p:nvSpPr>
          <p:cNvPr id="18" name="Text 18"/>
          <p:cNvSpPr/>
          <p:nvPr/>
        </p:nvSpPr>
        <p:spPr>
          <a:xfrm>
            <a:off x="3977640" y="5751576"/>
            <a:ext cx="4800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8DE"/>
                </a:solidFill>
                <a:latin typeface="Poppins"/>
                <a:ea typeface="Poppins"/>
                <a:cs typeface="Poppins"/>
              </a:rPr>
              <a:t>PQL</a:t>
            </a:r>
          </a:p>
        </p:txBody>
      </p:sp>
      <p:sp>
        <p:nvSpPr>
          <p:cNvPr id="19" name="Shape 19"/>
          <p:cNvSpPr/>
          <p:nvPr/>
        </p:nvSpPr>
        <p:spPr>
          <a:xfrm>
            <a:off x="4594860" y="5760720"/>
            <a:ext cx="1920240" cy="41148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2E5B48"/>
            </a:solidFill>
          </a:ln>
        </p:spPr>
      </p:sp>
      <p:sp>
        <p:nvSpPr>
          <p:cNvPr id="20" name="Text 20"/>
          <p:cNvSpPr/>
          <p:nvPr/>
        </p:nvSpPr>
        <p:spPr>
          <a:xfrm>
            <a:off x="4594860" y="5751576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9E8DE"/>
                </a:solidFill>
                <a:latin typeface="Poppins"/>
                <a:ea typeface="Poppins"/>
                <a:cs typeface="Poppins"/>
              </a:rPr>
              <a:t>Interactive BI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blem &amp; Approach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01 · THE PROBLEM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Business travel is a major, hidden source of avoidable emissions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54864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68580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178,090 t</a:t>
            </a:r>
          </a:p>
        </p:txBody>
      </p:sp>
      <p:sp>
        <p:nvSpPr>
          <p:cNvPr id="7" name="Text 7"/>
          <p:cNvSpPr/>
          <p:nvPr/>
        </p:nvSpPr>
        <p:spPr>
          <a:xfrm>
            <a:off x="68580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CO₂e from business travel</a:t>
            </a:r>
          </a:p>
        </p:txBody>
      </p:sp>
      <p:sp>
        <p:nvSpPr>
          <p:cNvPr id="8" name="Shape 8"/>
          <p:cNvSpPr/>
          <p:nvPr/>
        </p:nvSpPr>
        <p:spPr>
          <a:xfrm>
            <a:off x="335661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349377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892B"/>
                </a:solidFill>
                <a:latin typeface="Lora"/>
                <a:ea typeface="Lora"/>
                <a:cs typeface="Lora"/>
              </a:rPr>
              <a:t>25.0%</a:t>
            </a:r>
          </a:p>
        </p:txBody>
      </p:sp>
      <p:sp>
        <p:nvSpPr>
          <p:cNvPr id="10" name="Text 10"/>
          <p:cNvSpPr/>
          <p:nvPr/>
        </p:nvSpPr>
        <p:spPr>
          <a:xfrm>
            <a:off x="349377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of trips are High-Carbon</a:t>
            </a:r>
          </a:p>
        </p:txBody>
      </p:sp>
      <p:sp>
        <p:nvSpPr>
          <p:cNvPr id="11" name="Shape 11"/>
          <p:cNvSpPr/>
          <p:nvPr/>
        </p:nvSpPr>
        <p:spPr>
          <a:xfrm>
            <a:off x="616458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630174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694F"/>
                </a:solidFill>
                <a:latin typeface="Lora"/>
                <a:ea typeface="Lora"/>
                <a:cs typeface="Lora"/>
              </a:rPr>
              <a:t>18.4%</a:t>
            </a:r>
          </a:p>
        </p:txBody>
      </p:sp>
      <p:sp>
        <p:nvSpPr>
          <p:cNvPr id="13" name="Text 13"/>
          <p:cNvSpPr/>
          <p:nvPr/>
        </p:nvSpPr>
        <p:spPr>
          <a:xfrm>
            <a:off x="630174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of trips are out-of-policy</a:t>
            </a:r>
          </a:p>
        </p:txBody>
      </p:sp>
      <p:sp>
        <p:nvSpPr>
          <p:cNvPr id="14" name="Shape 14"/>
          <p:cNvSpPr/>
          <p:nvPr/>
        </p:nvSpPr>
        <p:spPr>
          <a:xfrm>
            <a:off x="897255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910971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~29%</a:t>
            </a:r>
          </a:p>
        </p:txBody>
      </p:sp>
      <p:sp>
        <p:nvSpPr>
          <p:cNvPr id="16" name="Text 16"/>
          <p:cNvSpPr/>
          <p:nvPr/>
        </p:nvSpPr>
        <p:spPr>
          <a:xfrm>
            <a:off x="910971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of it is avoidable</a:t>
            </a:r>
          </a:p>
        </p:txBody>
      </p:sp>
      <p:sp>
        <p:nvSpPr>
          <p:cNvPr id="17" name="Text 17"/>
          <p:cNvSpPr/>
          <p:nvPr/>
        </p:nvSpPr>
        <p:spPr>
          <a:xfrm>
            <a:off x="548640" y="27402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THE APPROACH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3060320"/>
            <a:ext cx="3515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9" name="Oval 19"/>
          <p:cNvSpPr/>
          <p:nvPr/>
        </p:nvSpPr>
        <p:spPr>
          <a:xfrm>
            <a:off x="731520" y="3243200"/>
            <a:ext cx="365760" cy="36576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20" name="Text 20"/>
          <p:cNvSpPr/>
          <p:nvPr/>
        </p:nvSpPr>
        <p:spPr>
          <a:xfrm>
            <a:off x="731520" y="32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21" name="Text 21"/>
          <p:cNvSpPr/>
          <p:nvPr/>
        </p:nvSpPr>
        <p:spPr>
          <a:xfrm>
            <a:off x="731520" y="3700400"/>
            <a:ext cx="314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Mine the actual process</a:t>
            </a:r>
          </a:p>
        </p:txBody>
      </p:sp>
      <p:sp>
        <p:nvSpPr>
          <p:cNvPr id="22" name="Text 22"/>
          <p:cNvSpPr/>
          <p:nvPr/>
        </p:nvSpPr>
        <p:spPr>
          <a:xfrm>
            <a:off x="731520" y="4020440"/>
            <a:ext cx="31496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Use process-mining on real trip event logs to see how bookings, approvals, and travel actually unfold — not how policy says they should.</a:t>
            </a:r>
          </a:p>
        </p:txBody>
      </p:sp>
      <p:sp>
        <p:nvSpPr>
          <p:cNvPr id="23" name="Shape 23"/>
          <p:cNvSpPr/>
          <p:nvPr/>
        </p:nvSpPr>
        <p:spPr>
          <a:xfrm>
            <a:off x="4338320" y="3060320"/>
            <a:ext cx="3515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24" name="Oval 24"/>
          <p:cNvSpPr/>
          <p:nvPr/>
        </p:nvSpPr>
        <p:spPr>
          <a:xfrm>
            <a:off x="4521200" y="3243200"/>
            <a:ext cx="365760" cy="36576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25" name="Text 25"/>
          <p:cNvSpPr/>
          <p:nvPr/>
        </p:nvSpPr>
        <p:spPr>
          <a:xfrm>
            <a:off x="4521200" y="32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26" name="Text 26"/>
          <p:cNvSpPr/>
          <p:nvPr/>
        </p:nvSpPr>
        <p:spPr>
          <a:xfrm>
            <a:off x="4521200" y="3700400"/>
            <a:ext cx="314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Predict risk before it happens</a:t>
            </a:r>
          </a:p>
        </p:txBody>
      </p:sp>
      <p:sp>
        <p:nvSpPr>
          <p:cNvPr id="27" name="Text 27"/>
          <p:cNvSpPr/>
          <p:nvPr/>
        </p:nvSpPr>
        <p:spPr>
          <a:xfrm>
            <a:off x="4521200" y="4020440"/>
            <a:ext cx="31496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Train a classifier that flags a trip as high-carbon at the moment of booking, using only information available pre-trip.</a:t>
            </a:r>
          </a:p>
        </p:txBody>
      </p:sp>
      <p:sp>
        <p:nvSpPr>
          <p:cNvPr id="28" name="Shape 28"/>
          <p:cNvSpPr/>
          <p:nvPr/>
        </p:nvSpPr>
        <p:spPr>
          <a:xfrm>
            <a:off x="8128000" y="3060320"/>
            <a:ext cx="3515360" cy="1600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29" name="Oval 29"/>
          <p:cNvSpPr/>
          <p:nvPr/>
        </p:nvSpPr>
        <p:spPr>
          <a:xfrm>
            <a:off x="8310880" y="3243200"/>
            <a:ext cx="365760" cy="36576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30" name="Text 30"/>
          <p:cNvSpPr/>
          <p:nvPr/>
        </p:nvSpPr>
        <p:spPr>
          <a:xfrm>
            <a:off x="8310880" y="3234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31" name="Text 31"/>
          <p:cNvSpPr/>
          <p:nvPr/>
        </p:nvSpPr>
        <p:spPr>
          <a:xfrm>
            <a:off x="8310880" y="3700400"/>
            <a:ext cx="314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Turn insight into a live tool</a:t>
            </a:r>
          </a:p>
        </p:txBody>
      </p:sp>
      <p:sp>
        <p:nvSpPr>
          <p:cNvPr id="32" name="Text 32"/>
          <p:cNvSpPr/>
          <p:nvPr/>
        </p:nvSpPr>
        <p:spPr>
          <a:xfrm>
            <a:off x="8310880" y="4020440"/>
            <a:ext cx="314960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Ship the analysis as an interactive, filterable dashboard — not a static report — so stakeholders can explore it themselves.</a:t>
            </a:r>
          </a:p>
        </p:txBody>
      </p:sp>
      <p:sp>
        <p:nvSpPr>
          <p:cNvPr id="33" name="Text 33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34" name="Text 34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flow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02 · HOW IT WORKS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End-to-End Analytics Pipeline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548640" y="1460120"/>
            <a:ext cx="2190750" cy="1874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548640" y="1460120"/>
            <a:ext cx="2190750" cy="73152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>
            <a:noFill/>
          </a:ln>
        </p:spPr>
      </p:sp>
      <p:sp>
        <p:nvSpPr>
          <p:cNvPr id="7" name="Text 7"/>
          <p:cNvSpPr/>
          <p:nvPr/>
        </p:nvSpPr>
        <p:spPr>
          <a:xfrm>
            <a:off x="685800" y="1597280"/>
            <a:ext cx="191643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STEP 1</a:t>
            </a:r>
          </a:p>
        </p:txBody>
      </p:sp>
      <p:sp>
        <p:nvSpPr>
          <p:cNvPr id="8" name="Text 8"/>
          <p:cNvSpPr/>
          <p:nvPr/>
        </p:nvSpPr>
        <p:spPr>
          <a:xfrm>
            <a:off x="685800" y="1890120"/>
            <a:ext cx="191643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Data &amp; Process Mining</a:t>
            </a:r>
          </a:p>
        </p:txBody>
      </p:sp>
      <p:sp>
        <p:nvSpPr>
          <p:cNvPr id="9" name="Text 9"/>
          <p:cNvSpPr/>
          <p:nvPr/>
        </p:nvSpPr>
        <p:spPr>
          <a:xfrm>
            <a:off x="685800" y="2714640"/>
            <a:ext cx="191643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Load trip, event-log, and cost data into Celonis; reconstruct the actual booking-to-reimbursement process.</a:t>
            </a:r>
          </a:p>
        </p:txBody>
      </p:sp>
      <p:sp>
        <p:nvSpPr>
          <p:cNvPr id="10" name="Text 10"/>
          <p:cNvSpPr/>
          <p:nvPr/>
        </p:nvSpPr>
        <p:spPr>
          <a:xfrm>
            <a:off x="3013710" y="146012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1" name="Shape 11"/>
          <p:cNvSpPr/>
          <p:nvPr/>
        </p:nvSpPr>
        <p:spPr>
          <a:xfrm>
            <a:off x="3516630" y="1460120"/>
            <a:ext cx="2190750" cy="1874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3516630" y="1460120"/>
            <a:ext cx="2190750" cy="73152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3653790" y="1597280"/>
            <a:ext cx="191643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STEP 2</a:t>
            </a:r>
          </a:p>
        </p:txBody>
      </p:sp>
      <p:sp>
        <p:nvSpPr>
          <p:cNvPr id="14" name="Text 14"/>
          <p:cNvSpPr/>
          <p:nvPr/>
        </p:nvSpPr>
        <p:spPr>
          <a:xfrm>
            <a:off x="3653790" y="1890120"/>
            <a:ext cx="191643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Feature Engineering</a:t>
            </a:r>
          </a:p>
        </p:txBody>
      </p:sp>
      <p:sp>
        <p:nvSpPr>
          <p:cNvPr id="15" name="Text 15"/>
          <p:cNvSpPr/>
          <p:nvPr/>
        </p:nvSpPr>
        <p:spPr>
          <a:xfrm>
            <a:off x="3653790" y="2714640"/>
            <a:ext cx="191643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Derive route, mode, timing, and policy-compliance features while strictly excluding any target-leaking columns.</a:t>
            </a:r>
          </a:p>
        </p:txBody>
      </p:sp>
      <p:sp>
        <p:nvSpPr>
          <p:cNvPr id="16" name="Text 16"/>
          <p:cNvSpPr/>
          <p:nvPr/>
        </p:nvSpPr>
        <p:spPr>
          <a:xfrm>
            <a:off x="5981700" y="146012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17" name="Shape 17"/>
          <p:cNvSpPr/>
          <p:nvPr/>
        </p:nvSpPr>
        <p:spPr>
          <a:xfrm>
            <a:off x="6484620" y="1460120"/>
            <a:ext cx="2190750" cy="1874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8" name="Shape 18"/>
          <p:cNvSpPr/>
          <p:nvPr/>
        </p:nvSpPr>
        <p:spPr>
          <a:xfrm>
            <a:off x="6484620" y="1460120"/>
            <a:ext cx="2190750" cy="73152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>
            <a:noFill/>
          </a:ln>
        </p:spPr>
      </p:sp>
      <p:sp>
        <p:nvSpPr>
          <p:cNvPr id="19" name="Text 19"/>
          <p:cNvSpPr/>
          <p:nvPr/>
        </p:nvSpPr>
        <p:spPr>
          <a:xfrm>
            <a:off x="6621780" y="1597280"/>
            <a:ext cx="191643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STEP 3</a:t>
            </a:r>
          </a:p>
        </p:txBody>
      </p:sp>
      <p:sp>
        <p:nvSpPr>
          <p:cNvPr id="20" name="Text 20"/>
          <p:cNvSpPr/>
          <p:nvPr/>
        </p:nvSpPr>
        <p:spPr>
          <a:xfrm>
            <a:off x="6621780" y="1890120"/>
            <a:ext cx="191643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Predictive Modeling</a:t>
            </a:r>
          </a:p>
        </p:txBody>
      </p:sp>
      <p:sp>
        <p:nvSpPr>
          <p:cNvPr id="21" name="Text 21"/>
          <p:cNvSpPr/>
          <p:nvPr/>
        </p:nvSpPr>
        <p:spPr>
          <a:xfrm>
            <a:off x="6621780" y="2714640"/>
            <a:ext cx="191643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Train a classifier to flag high-carbon trips pre-booking. Achieves 0.999 ROC-AUC on held-out data.</a:t>
            </a:r>
          </a:p>
        </p:txBody>
      </p:sp>
      <p:sp>
        <p:nvSpPr>
          <p:cNvPr id="22" name="Text 22"/>
          <p:cNvSpPr/>
          <p:nvPr/>
        </p:nvSpPr>
        <p:spPr>
          <a:xfrm>
            <a:off x="8949690" y="1460120"/>
            <a:ext cx="228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9452610" y="1460120"/>
            <a:ext cx="2190750" cy="1874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9452610" y="1460120"/>
            <a:ext cx="2190750" cy="73152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</p:sp>
      <p:sp>
        <p:nvSpPr>
          <p:cNvPr id="25" name="Text 25"/>
          <p:cNvSpPr/>
          <p:nvPr/>
        </p:nvSpPr>
        <p:spPr>
          <a:xfrm>
            <a:off x="9589770" y="1597280"/>
            <a:ext cx="191643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STEP 4</a:t>
            </a:r>
          </a:p>
        </p:txBody>
      </p:sp>
      <p:sp>
        <p:nvSpPr>
          <p:cNvPr id="26" name="Text 26"/>
          <p:cNvSpPr/>
          <p:nvPr/>
        </p:nvSpPr>
        <p:spPr>
          <a:xfrm>
            <a:off x="9589770" y="1890120"/>
            <a:ext cx="191643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Interactive Dashboard</a:t>
            </a:r>
          </a:p>
        </p:txBody>
      </p:sp>
      <p:sp>
        <p:nvSpPr>
          <p:cNvPr id="27" name="Text 27"/>
          <p:cNvSpPr/>
          <p:nvPr/>
        </p:nvSpPr>
        <p:spPr>
          <a:xfrm>
            <a:off x="9589770" y="2714640"/>
            <a:ext cx="191643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Publish a 3-tab live dashboard (Overview, Benchmarking, Drilldown) for self-serve exploration.</a:t>
            </a:r>
          </a:p>
        </p:txBody>
      </p:sp>
      <p:sp>
        <p:nvSpPr>
          <p:cNvPr id="28" name="Shape 28"/>
          <p:cNvSpPr/>
          <p:nvPr/>
        </p:nvSpPr>
        <p:spPr>
          <a:xfrm>
            <a:off x="548640" y="3608960"/>
            <a:ext cx="11094720" cy="548640"/>
          </a:xfrm>
          <a:prstGeom prst="roundRect">
            <a:avLst>
              <a:gd name="adj" fmla="val 9000"/>
            </a:avLst>
          </a:prstGeom>
          <a:solidFill>
            <a:srgbClr val="E7F1EA"/>
          </a:solidFill>
          <a:ln w="12700">
            <a:solidFill>
              <a:srgbClr val="E6E0D2"/>
            </a:solidFill>
          </a:ln>
        </p:spPr>
      </p:sp>
      <p:sp>
        <p:nvSpPr>
          <p:cNvPr id="29" name="Text 29"/>
          <p:cNvSpPr/>
          <p:nvPr/>
        </p:nvSpPr>
        <p:spPr>
          <a:xfrm>
            <a:off x="731520" y="360896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Why this matters:  </a:t>
            </a:r>
            <a:r>
              <a:rPr lang="en-US" sz="1000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the same pipeline that explains what happened also predicts what happens next — turning a historical report into a decision-support tool.</a:t>
            </a:r>
          </a:p>
        </p:txBody>
      </p:sp>
      <p:sp>
        <p:nvSpPr>
          <p:cNvPr id="30" name="Text 30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31" name="Text 31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ey Findings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03 · KEY FINDINGS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What the Data Revealed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Oval 5"/>
          <p:cNvSpPr/>
          <p:nvPr/>
        </p:nvSpPr>
        <p:spPr>
          <a:xfrm>
            <a:off x="548640" y="1460120"/>
            <a:ext cx="320040" cy="32004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6" name="Text 6"/>
          <p:cNvSpPr/>
          <p:nvPr/>
        </p:nvSpPr>
        <p:spPr>
          <a:xfrm>
            <a:off x="548640" y="14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1</a:t>
            </a:r>
          </a:p>
        </p:txBody>
      </p:sp>
      <p:sp>
        <p:nvSpPr>
          <p:cNvPr id="7" name="Text 7"/>
          <p:cNvSpPr/>
          <p:nvPr/>
        </p:nvSpPr>
        <p:spPr>
          <a:xfrm>
            <a:off x="978408" y="1441832"/>
            <a:ext cx="106649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Travel mode — not business unit or trip purpose — drives emissions</a:t>
            </a:r>
          </a:p>
        </p:txBody>
      </p:sp>
      <p:sp>
        <p:nvSpPr>
          <p:cNvPr id="8" name="Text 8"/>
          <p:cNvSpPr/>
          <p:nvPr/>
        </p:nvSpPr>
        <p:spPr>
          <a:xfrm>
            <a:off x="978408" y="1716152"/>
            <a:ext cx="1066495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Business/First Class flights emit 2–2.6x more than Economy, 10x+ more than rail. BU and purpose vary by only ~10% across the board.</a:t>
            </a:r>
          </a:p>
        </p:txBody>
      </p:sp>
      <p:sp>
        <p:nvSpPr>
          <p:cNvPr id="9" name="Oval 9"/>
          <p:cNvSpPr/>
          <p:nvPr/>
        </p:nvSpPr>
        <p:spPr>
          <a:xfrm>
            <a:off x="548640" y="2360120"/>
            <a:ext cx="320040" cy="32004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10" name="Text 10"/>
          <p:cNvSpPr/>
          <p:nvPr/>
        </p:nvSpPr>
        <p:spPr>
          <a:xfrm>
            <a:off x="548640" y="23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2</a:t>
            </a:r>
          </a:p>
        </p:txBody>
      </p:sp>
      <p:sp>
        <p:nvSpPr>
          <p:cNvPr id="11" name="Text 11"/>
          <p:cNvSpPr/>
          <p:nvPr/>
        </p:nvSpPr>
        <p:spPr>
          <a:xfrm>
            <a:off x="978408" y="2341832"/>
            <a:ext cx="106649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Regional efficiency varies enormously</a:t>
            </a:r>
          </a:p>
        </p:txBody>
      </p:sp>
      <p:sp>
        <p:nvSpPr>
          <p:cNvPr id="12" name="Text 12"/>
          <p:cNvSpPr/>
          <p:nvPr/>
        </p:nvSpPr>
        <p:spPr>
          <a:xfrm>
            <a:off x="978408" y="2616152"/>
            <a:ext cx="1066495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Europe averages 602 kg CO₂e/trip vs 2,956 kg in Asia — a 5x gap driven mostly by distance and rail availability.</a:t>
            </a:r>
          </a:p>
        </p:txBody>
      </p:sp>
      <p:sp>
        <p:nvSpPr>
          <p:cNvPr id="13" name="Oval 13"/>
          <p:cNvSpPr/>
          <p:nvPr/>
        </p:nvSpPr>
        <p:spPr>
          <a:xfrm>
            <a:off x="548640" y="3260120"/>
            <a:ext cx="320040" cy="320040"/>
          </a:xfrm>
          <a:prstGeom prst="ellipse">
            <a:avLst/>
          </a:prstGeom>
          <a:solidFill>
            <a:srgbClr val="1F8A5F"/>
          </a:solidFill>
          <a:ln>
            <a:noFill/>
          </a:ln>
        </p:spPr>
      </p:sp>
      <p:sp>
        <p:nvSpPr>
          <p:cNvPr id="14" name="Text 14"/>
          <p:cNvSpPr/>
          <p:nvPr/>
        </p:nvSpPr>
        <p:spPr>
          <a:xfrm>
            <a:off x="548640" y="32509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oppins"/>
                <a:ea typeface="Poppins"/>
                <a:cs typeface="Poppins"/>
              </a:rPr>
              <a:t>3</a:t>
            </a:r>
          </a:p>
        </p:txBody>
      </p:sp>
      <p:sp>
        <p:nvSpPr>
          <p:cNvPr id="15" name="Text 15"/>
          <p:cNvSpPr/>
          <p:nvPr/>
        </p:nvSpPr>
        <p:spPr>
          <a:xfrm>
            <a:off x="978408" y="3241832"/>
            <a:ext cx="10664952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Process friction correlates with higher emissions</a:t>
            </a:r>
          </a:p>
        </p:txBody>
      </p:sp>
      <p:sp>
        <p:nvSpPr>
          <p:cNvPr id="16" name="Text 16"/>
          <p:cNvSpPr/>
          <p:nvPr/>
        </p:nvSpPr>
        <p:spPr>
          <a:xfrm>
            <a:off x="978408" y="3516152"/>
            <a:ext cx="10664952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Out-of-policy bookings emit 43.5% more CO₂e; last-minute bookings emit 52.7% more — timing and compliance are carbon levers too.</a:t>
            </a:r>
          </a:p>
        </p:txBody>
      </p:sp>
      <p:sp>
        <p:nvSpPr>
          <p:cNvPr id="17" name="Text 17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18" name="Text 18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edictive Model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04 · PREDICTIVE MODEL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Flagging High-Carbon Trips Before They're Booked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54864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68580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0.999</a:t>
            </a:r>
          </a:p>
        </p:txBody>
      </p:sp>
      <p:sp>
        <p:nvSpPr>
          <p:cNvPr id="7" name="Text 7"/>
          <p:cNvSpPr/>
          <p:nvPr/>
        </p:nvSpPr>
        <p:spPr>
          <a:xfrm>
            <a:off x="68580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ROC-AUC on held-out data</a:t>
            </a:r>
          </a:p>
        </p:txBody>
      </p:sp>
      <p:sp>
        <p:nvSpPr>
          <p:cNvPr id="8" name="Shape 8"/>
          <p:cNvSpPr/>
          <p:nvPr/>
        </p:nvSpPr>
        <p:spPr>
          <a:xfrm>
            <a:off x="335661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349377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Pre-booking</a:t>
            </a:r>
          </a:p>
        </p:txBody>
      </p:sp>
      <p:sp>
        <p:nvSpPr>
          <p:cNvPr id="10" name="Text 10"/>
          <p:cNvSpPr/>
          <p:nvPr/>
        </p:nvSpPr>
        <p:spPr>
          <a:xfrm>
            <a:off x="349377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features only — no leakage</a:t>
            </a:r>
          </a:p>
        </p:txBody>
      </p:sp>
      <p:sp>
        <p:nvSpPr>
          <p:cNvPr id="11" name="Shape 11"/>
          <p:cNvSpPr/>
          <p:nvPr/>
        </p:nvSpPr>
        <p:spPr>
          <a:xfrm>
            <a:off x="616458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630174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B8892B"/>
                </a:solidFill>
                <a:latin typeface="Lora"/>
                <a:ea typeface="Lora"/>
                <a:cs typeface="Lora"/>
              </a:rPr>
              <a:t>Binary</a:t>
            </a:r>
          </a:p>
        </p:txBody>
      </p:sp>
      <p:sp>
        <p:nvSpPr>
          <p:cNvPr id="13" name="Text 13"/>
          <p:cNvSpPr/>
          <p:nvPr/>
        </p:nvSpPr>
        <p:spPr>
          <a:xfrm>
            <a:off x="630174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classification, probability output</a:t>
            </a:r>
          </a:p>
        </p:txBody>
      </p:sp>
      <p:sp>
        <p:nvSpPr>
          <p:cNvPr id="14" name="Shape 14"/>
          <p:cNvSpPr/>
          <p:nvPr/>
        </p:nvSpPr>
        <p:spPr>
          <a:xfrm>
            <a:off x="8972550" y="1460120"/>
            <a:ext cx="267081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9109710" y="1597280"/>
            <a:ext cx="2396490" cy="456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9694F"/>
                </a:solidFill>
                <a:latin typeface="Lora"/>
                <a:ea typeface="Lora"/>
                <a:cs typeface="Lora"/>
              </a:rPr>
              <a:t>Explainable</a:t>
            </a:r>
          </a:p>
        </p:txBody>
      </p:sp>
      <p:sp>
        <p:nvSpPr>
          <p:cNvPr id="16" name="Text 16"/>
          <p:cNvSpPr/>
          <p:nvPr/>
        </p:nvSpPr>
        <p:spPr>
          <a:xfrm>
            <a:off x="9109710" y="2054480"/>
            <a:ext cx="239649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feature importances retained</a:t>
            </a:r>
          </a:p>
        </p:txBody>
      </p:sp>
      <p:sp>
        <p:nvSpPr>
          <p:cNvPr id="17" name="Shape 17"/>
          <p:cNvSpPr/>
          <p:nvPr/>
        </p:nvSpPr>
        <p:spPr>
          <a:xfrm>
            <a:off x="548640" y="2740280"/>
            <a:ext cx="541020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8" name="Text 18"/>
          <p:cNvSpPr/>
          <p:nvPr/>
        </p:nvSpPr>
        <p:spPr>
          <a:xfrm>
            <a:off x="731520" y="2923160"/>
            <a:ext cx="504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Methodology</a:t>
            </a:r>
          </a:p>
        </p:txBody>
      </p:sp>
      <p:sp>
        <p:nvSpPr>
          <p:cNvPr id="19" name="Text 19"/>
          <p:cNvSpPr/>
          <p:nvPr/>
        </p:nvSpPr>
        <p:spPr>
          <a:xfrm>
            <a:off x="731520" y="3288920"/>
            <a:ext cx="50444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Trained a gradient-boosted classifier on trip-level features (route, mode, timing, policy flags, business context). The target and all CO₂e/cost columns that directly encode it were excluded from the feature set to prevent leakage.</a:t>
            </a:r>
          </a:p>
        </p:txBody>
      </p:sp>
      <p:sp>
        <p:nvSpPr>
          <p:cNvPr id="20" name="Shape 20"/>
          <p:cNvSpPr/>
          <p:nvPr/>
        </p:nvSpPr>
        <p:spPr>
          <a:xfrm>
            <a:off x="6233160" y="2740280"/>
            <a:ext cx="5410200" cy="1874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21" name="Text 21"/>
          <p:cNvSpPr/>
          <p:nvPr/>
        </p:nvSpPr>
        <p:spPr>
          <a:xfrm>
            <a:off x="6416040" y="2923160"/>
            <a:ext cx="504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Why it's useful, not just accurate</a:t>
            </a:r>
          </a:p>
        </p:txBody>
      </p:sp>
      <p:sp>
        <p:nvSpPr>
          <p:cNvPr id="22" name="Text 22"/>
          <p:cNvSpPr/>
          <p:nvPr/>
        </p:nvSpPr>
        <p:spPr>
          <a:xfrm>
            <a:off x="6416040" y="3288920"/>
            <a:ext cx="504444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A high ROC-AUC only matters if the score arrives in time to change a decision. Because every input is known at the moment of booking, this model can sit inside the approval workflow itself — not just in a retrospective report.</a:t>
            </a:r>
          </a:p>
        </p:txBody>
      </p:sp>
      <p:sp>
        <p:nvSpPr>
          <p:cNvPr id="23" name="Text 23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24" name="Text 24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commendations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05 · RECOMMENDATIONS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From Insight to Quantified Action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548640" y="1460120"/>
            <a:ext cx="260223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6" name="Shape 6"/>
          <p:cNvSpPr/>
          <p:nvPr/>
        </p:nvSpPr>
        <p:spPr>
          <a:xfrm>
            <a:off x="731520" y="1643000"/>
            <a:ext cx="2236470" cy="73152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>
            <a:noFill/>
          </a:ln>
        </p:spPr>
      </p:sp>
      <p:sp>
        <p:nvSpPr>
          <p:cNvPr id="7" name="Text 7"/>
          <p:cNvSpPr/>
          <p:nvPr/>
        </p:nvSpPr>
        <p:spPr>
          <a:xfrm>
            <a:off x="731520" y="1780160"/>
            <a:ext cx="223647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–34,738 t/yr</a:t>
            </a:r>
          </a:p>
        </p:txBody>
      </p:sp>
      <p:sp>
        <p:nvSpPr>
          <p:cNvPr id="8" name="Text 8"/>
          <p:cNvSpPr/>
          <p:nvPr/>
        </p:nvSpPr>
        <p:spPr>
          <a:xfrm>
            <a:off x="731520" y="2180160"/>
            <a:ext cx="22364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Cap premium cabins on routes &lt;6 hrs</a:t>
            </a:r>
          </a:p>
        </p:txBody>
      </p:sp>
      <p:sp>
        <p:nvSpPr>
          <p:cNvPr id="9" name="Text 9"/>
          <p:cNvSpPr/>
          <p:nvPr/>
        </p:nvSpPr>
        <p:spPr>
          <a:xfrm>
            <a:off x="731520" y="3217560"/>
            <a:ext cx="223647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Downgrade Business/First to Economy where flight time allows.</a:t>
            </a:r>
          </a:p>
        </p:txBody>
      </p:sp>
      <p:sp>
        <p:nvSpPr>
          <p:cNvPr id="10" name="Text 10"/>
          <p:cNvSpPr/>
          <p:nvPr/>
        </p:nvSpPr>
        <p:spPr>
          <a:xfrm>
            <a:off x="731520" y="3677560"/>
            <a:ext cx="223647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19.5% of total footprint</a:t>
            </a:r>
          </a:p>
        </p:txBody>
      </p:sp>
      <p:sp>
        <p:nvSpPr>
          <p:cNvPr id="11" name="Shape 11"/>
          <p:cNvSpPr/>
          <p:nvPr/>
        </p:nvSpPr>
        <p:spPr>
          <a:xfrm>
            <a:off x="3379470" y="1460120"/>
            <a:ext cx="260223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3562350" y="1643000"/>
            <a:ext cx="2236470" cy="73152"/>
          </a:xfrm>
          <a:prstGeom prst="roundRect">
            <a:avLst>
              <a:gd name="adj" fmla="val 50000"/>
            </a:avLst>
          </a:prstGeom>
          <a:solidFill>
            <a:srgbClr val="1F8A5F"/>
          </a:solidFill>
          <a:ln>
            <a:noFill/>
          </a:ln>
        </p:spPr>
      </p:sp>
      <p:sp>
        <p:nvSpPr>
          <p:cNvPr id="13" name="Text 13"/>
          <p:cNvSpPr/>
          <p:nvPr/>
        </p:nvSpPr>
        <p:spPr>
          <a:xfrm>
            <a:off x="3562350" y="1780160"/>
            <a:ext cx="223647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–770 t/yr</a:t>
            </a:r>
          </a:p>
        </p:txBody>
      </p:sp>
      <p:sp>
        <p:nvSpPr>
          <p:cNvPr id="14" name="Text 14"/>
          <p:cNvSpPr/>
          <p:nvPr/>
        </p:nvSpPr>
        <p:spPr>
          <a:xfrm>
            <a:off x="3562350" y="2180160"/>
            <a:ext cx="22364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Mandate rail on proven short-haul routes</a:t>
            </a:r>
          </a:p>
        </p:txBody>
      </p:sp>
      <p:sp>
        <p:nvSpPr>
          <p:cNvPr id="15" name="Text 15"/>
          <p:cNvSpPr/>
          <p:nvPr/>
        </p:nvSpPr>
        <p:spPr>
          <a:xfrm>
            <a:off x="3562350" y="3217560"/>
            <a:ext cx="223647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Routes with an equal-cost rail alternative default to rail.</a:t>
            </a:r>
          </a:p>
        </p:txBody>
      </p:sp>
      <p:sp>
        <p:nvSpPr>
          <p:cNvPr id="16" name="Text 16"/>
          <p:cNvSpPr/>
          <p:nvPr/>
        </p:nvSpPr>
        <p:spPr>
          <a:xfrm>
            <a:off x="3562350" y="3677560"/>
            <a:ext cx="223647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+ cost savings, equal cost</a:t>
            </a:r>
          </a:p>
        </p:txBody>
      </p:sp>
      <p:sp>
        <p:nvSpPr>
          <p:cNvPr id="17" name="Shape 17"/>
          <p:cNvSpPr/>
          <p:nvPr/>
        </p:nvSpPr>
        <p:spPr>
          <a:xfrm>
            <a:off x="6210300" y="1460120"/>
            <a:ext cx="260223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8" name="Shape 18"/>
          <p:cNvSpPr/>
          <p:nvPr/>
        </p:nvSpPr>
        <p:spPr>
          <a:xfrm>
            <a:off x="6393180" y="1643000"/>
            <a:ext cx="2236470" cy="73152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</p:sp>
      <p:sp>
        <p:nvSpPr>
          <p:cNvPr id="19" name="Text 19"/>
          <p:cNvSpPr/>
          <p:nvPr/>
        </p:nvSpPr>
        <p:spPr>
          <a:xfrm>
            <a:off x="6393180" y="1780160"/>
            <a:ext cx="223647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8892B"/>
                </a:solidFill>
                <a:latin typeface="Lora"/>
                <a:ea typeface="Lora"/>
                <a:cs typeface="Lora"/>
              </a:rPr>
              <a:t>–16,448 t/yr</a:t>
            </a:r>
          </a:p>
        </p:txBody>
      </p:sp>
      <p:sp>
        <p:nvSpPr>
          <p:cNvPr id="20" name="Text 20"/>
          <p:cNvSpPr/>
          <p:nvPr/>
        </p:nvSpPr>
        <p:spPr>
          <a:xfrm>
            <a:off x="6393180" y="2180160"/>
            <a:ext cx="22364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5-day minimum booking window</a:t>
            </a:r>
          </a:p>
        </p:txBody>
      </p:sp>
      <p:sp>
        <p:nvSpPr>
          <p:cNvPr id="21" name="Text 21"/>
          <p:cNvSpPr/>
          <p:nvPr/>
        </p:nvSpPr>
        <p:spPr>
          <a:xfrm>
            <a:off x="6393180" y="3217560"/>
            <a:ext cx="223647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Reduce last-minute, high-carbon bookings via an exception process.</a:t>
            </a:r>
          </a:p>
        </p:txBody>
      </p:sp>
      <p:sp>
        <p:nvSpPr>
          <p:cNvPr id="22" name="Text 22"/>
          <p:cNvSpPr/>
          <p:nvPr/>
        </p:nvSpPr>
        <p:spPr>
          <a:xfrm>
            <a:off x="6393180" y="3677560"/>
            <a:ext cx="223647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Targets the highest-friction trips</a:t>
            </a:r>
          </a:p>
        </p:txBody>
      </p:sp>
      <p:sp>
        <p:nvSpPr>
          <p:cNvPr id="23" name="Shape 23"/>
          <p:cNvSpPr/>
          <p:nvPr/>
        </p:nvSpPr>
        <p:spPr>
          <a:xfrm>
            <a:off x="9041130" y="1460120"/>
            <a:ext cx="2602230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24" name="Shape 24"/>
          <p:cNvSpPr/>
          <p:nvPr/>
        </p:nvSpPr>
        <p:spPr>
          <a:xfrm>
            <a:off x="9224010" y="1643000"/>
            <a:ext cx="2236470" cy="73152"/>
          </a:xfrm>
          <a:prstGeom prst="roundRect">
            <a:avLst>
              <a:gd name="adj" fmla="val 50000"/>
            </a:avLst>
          </a:prstGeom>
          <a:solidFill>
            <a:srgbClr val="D9694F"/>
          </a:solidFill>
          <a:ln>
            <a:noFill/>
          </a:ln>
        </p:spPr>
      </p:sp>
      <p:sp>
        <p:nvSpPr>
          <p:cNvPr id="25" name="Text 25"/>
          <p:cNvSpPr/>
          <p:nvPr/>
        </p:nvSpPr>
        <p:spPr>
          <a:xfrm>
            <a:off x="9224010" y="1780160"/>
            <a:ext cx="223647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9694F"/>
                </a:solidFill>
                <a:latin typeface="Lora"/>
                <a:ea typeface="Lora"/>
                <a:cs typeface="Lora"/>
              </a:rPr>
              <a:t>All 3 levers</a:t>
            </a:r>
          </a:p>
        </p:txBody>
      </p:sp>
      <p:sp>
        <p:nvSpPr>
          <p:cNvPr id="26" name="Text 26"/>
          <p:cNvSpPr/>
          <p:nvPr/>
        </p:nvSpPr>
        <p:spPr>
          <a:xfrm>
            <a:off x="9224010" y="2180160"/>
            <a:ext cx="223647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50" b="1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Real-time carbon score at booking</a:t>
            </a:r>
          </a:p>
        </p:txBody>
      </p:sp>
      <p:sp>
        <p:nvSpPr>
          <p:cNvPr id="27" name="Text 27"/>
          <p:cNvSpPr/>
          <p:nvPr/>
        </p:nvSpPr>
        <p:spPr>
          <a:xfrm>
            <a:off x="9224010" y="3217560"/>
            <a:ext cx="223647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3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Surface CO₂e/cost trade-offs at the point of request, using the model.</a:t>
            </a:r>
          </a:p>
        </p:txBody>
      </p:sp>
      <p:sp>
        <p:nvSpPr>
          <p:cNvPr id="28" name="Text 28"/>
          <p:cNvSpPr/>
          <p:nvPr/>
        </p:nvSpPr>
        <p:spPr>
          <a:xfrm>
            <a:off x="9224010" y="3677560"/>
            <a:ext cx="223647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D9694F"/>
                </a:solidFill>
                <a:latin typeface="Poppins"/>
                <a:ea typeface="Poppins"/>
                <a:cs typeface="Poppins"/>
              </a:rPr>
              <a:t>AI-driven, workflow-embedded</a:t>
            </a:r>
          </a:p>
        </p:txBody>
      </p:sp>
      <p:sp>
        <p:nvSpPr>
          <p:cNvPr id="29" name="Shape 29"/>
          <p:cNvSpPr/>
          <p:nvPr/>
        </p:nvSpPr>
        <p:spPr>
          <a:xfrm>
            <a:off x="548640" y="4249040"/>
            <a:ext cx="11094720" cy="548640"/>
          </a:xfrm>
          <a:prstGeom prst="roundRect">
            <a:avLst>
              <a:gd name="adj" fmla="val 9000"/>
            </a:avLst>
          </a:prstGeom>
          <a:solidFill>
            <a:srgbClr val="E7F1EA"/>
          </a:solidFill>
          <a:ln w="12700">
            <a:solidFill>
              <a:srgbClr val="E6E0D2"/>
            </a:solidFill>
          </a:ln>
        </p:spPr>
      </p:sp>
      <p:sp>
        <p:nvSpPr>
          <p:cNvPr id="30" name="Text 30"/>
          <p:cNvSpPr/>
          <p:nvPr/>
        </p:nvSpPr>
        <p:spPr>
          <a:xfrm>
            <a:off x="731520" y="424904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0B3D2E"/>
                </a:solidFill>
                <a:latin typeface="Poppins"/>
                <a:ea typeface="Poppins"/>
                <a:cs typeface="Poppins"/>
              </a:rPr>
              <a:t>Combined impact:  </a:t>
            </a:r>
            <a:r>
              <a:rPr lang="en-US" sz="1000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~52,000 tonnes CO₂e/yr abated — roughly 29% of the current footprint — if all four levers reach full adoption.</a:t>
            </a:r>
          </a:p>
        </p:txBody>
      </p:sp>
      <p:sp>
        <p:nvSpPr>
          <p:cNvPr id="31" name="Text 31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32" name="Text 32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7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06 · LIVE DASHBOARD — TAB 1 OF 3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Emissions Overview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10573512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0948416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1323320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548640" y="1460120"/>
            <a:ext cx="7474320" cy="4099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pic>
        <p:nvPicPr>
          <p:cNvPr id="9" name="Image 9" descr="Emissions Overview dashboard 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7280"/>
            <a:ext cx="7200000" cy="3825000"/>
          </a:xfrm>
          <a:prstGeom prst="roundRect">
            <a:avLst>
              <a:gd name="adj" fmla="val 2500"/>
            </a:avLst>
          </a:prstGeom>
        </p:spPr>
      </p:pic>
      <p:sp>
        <p:nvSpPr>
          <p:cNvPr id="10" name="Shape 10"/>
          <p:cNvSpPr/>
          <p:nvPr/>
        </p:nvSpPr>
        <p:spPr>
          <a:xfrm>
            <a:off x="8251560" y="146012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8388720" y="155156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65,289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Trips analyzed</a:t>
            </a:r>
          </a:p>
        </p:txBody>
      </p:sp>
      <p:sp>
        <p:nvSpPr>
          <p:cNvPr id="12" name="Shape 12"/>
          <p:cNvSpPr/>
          <p:nvPr/>
        </p:nvSpPr>
        <p:spPr>
          <a:xfrm>
            <a:off x="8251560" y="251924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8388720" y="261068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86.6M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Departure CO₂e</a:t>
            </a:r>
          </a:p>
        </p:txBody>
      </p:sp>
      <p:sp>
        <p:nvSpPr>
          <p:cNvPr id="14" name="Shape 14"/>
          <p:cNvSpPr/>
          <p:nvPr/>
        </p:nvSpPr>
        <p:spPr>
          <a:xfrm>
            <a:off x="8251560" y="357836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8388720" y="366980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86.6M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Return CO₂e</a:t>
            </a:r>
          </a:p>
        </p:txBody>
      </p:sp>
      <p:sp>
        <p:nvSpPr>
          <p:cNvPr id="16" name="Shape 16"/>
          <p:cNvSpPr/>
          <p:nvPr/>
        </p:nvSpPr>
        <p:spPr>
          <a:xfrm>
            <a:off x="8251560" y="463748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88720" y="472892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4.9M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Hotel CO₂e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5788040"/>
            <a:ext cx="11094720" cy="548640"/>
          </a:xfrm>
          <a:prstGeom prst="roundRect">
            <a:avLst>
              <a:gd name="adj" fmla="val 9000"/>
            </a:avLst>
          </a:prstGeom>
          <a:solidFill>
            <a:srgbClr val="F5EBD6"/>
          </a:solidFill>
          <a:ln w="12700">
            <a:solidFill>
              <a:srgbClr val="E6E0D2"/>
            </a:solidFill>
          </a:ln>
        </p:spPr>
      </p:sp>
      <p:sp>
        <p:nvSpPr>
          <p:cNvPr id="19" name="Text 19"/>
          <p:cNvSpPr/>
          <p:nvPr/>
        </p:nvSpPr>
        <p:spPr>
          <a:xfrm>
            <a:off x="731520" y="578804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Key insight:  </a:t>
            </a:r>
            <a:r>
              <a:rPr lang="en-US" sz="1000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departure and return legs together drive ~97% of total logged CO₂e — hotel stays are a minor share.</a:t>
            </a:r>
          </a:p>
        </p:txBody>
      </p:sp>
      <p:sp>
        <p:nvSpPr>
          <p:cNvPr id="20" name="Text 20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21" name="Text 21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06 · LIVE DASHBOARD — TAB 2 OF 3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Benchmarking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10573512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0948416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1323320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548640" y="1460120"/>
            <a:ext cx="7474320" cy="4099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pic>
        <p:nvPicPr>
          <p:cNvPr id="9" name="Image 9" descr="Benchmarking dashboard 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7280"/>
            <a:ext cx="7200000" cy="3825000"/>
          </a:xfrm>
          <a:prstGeom prst="roundRect">
            <a:avLst>
              <a:gd name="adj" fmla="val 2500"/>
            </a:avLst>
          </a:prstGeom>
        </p:spPr>
      </p:pic>
      <p:sp>
        <p:nvSpPr>
          <p:cNvPr id="10" name="Shape 10"/>
          <p:cNvSpPr/>
          <p:nvPr/>
        </p:nvSpPr>
        <p:spPr>
          <a:xfrm>
            <a:off x="8251560" y="146012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8388720" y="155156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13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Business units</a:t>
            </a:r>
          </a:p>
        </p:txBody>
      </p:sp>
      <p:sp>
        <p:nvSpPr>
          <p:cNvPr id="12" name="Shape 12"/>
          <p:cNvSpPr/>
          <p:nvPr/>
        </p:nvSpPr>
        <p:spPr>
          <a:xfrm>
            <a:off x="8251560" y="251924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8388720" y="261068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4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Regions compared</a:t>
            </a:r>
          </a:p>
        </p:txBody>
      </p:sp>
      <p:sp>
        <p:nvSpPr>
          <p:cNvPr id="14" name="Shape 14"/>
          <p:cNvSpPr/>
          <p:nvPr/>
        </p:nvSpPr>
        <p:spPr>
          <a:xfrm>
            <a:off x="8251560" y="357836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8388720" y="366980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Europe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Most efficient region</a:t>
            </a:r>
          </a:p>
        </p:txBody>
      </p:sp>
      <p:sp>
        <p:nvSpPr>
          <p:cNvPr id="16" name="Shape 16"/>
          <p:cNvSpPr/>
          <p:nvPr/>
        </p:nvSpPr>
        <p:spPr>
          <a:xfrm>
            <a:off x="8251560" y="463748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88720" y="472892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Public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Only trip set used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5788040"/>
            <a:ext cx="11094720" cy="548640"/>
          </a:xfrm>
          <a:prstGeom prst="roundRect">
            <a:avLst>
              <a:gd name="adj" fmla="val 9000"/>
            </a:avLst>
          </a:prstGeom>
          <a:solidFill>
            <a:srgbClr val="F5EBD6"/>
          </a:solidFill>
          <a:ln w="12700">
            <a:solidFill>
              <a:srgbClr val="E6E0D2"/>
            </a:solidFill>
          </a:ln>
        </p:spPr>
      </p:sp>
      <p:sp>
        <p:nvSpPr>
          <p:cNvPr id="19" name="Text 19"/>
          <p:cNvSpPr/>
          <p:nvPr/>
        </p:nvSpPr>
        <p:spPr>
          <a:xfrm>
            <a:off x="731520" y="578804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Key insight:  </a:t>
            </a:r>
            <a:r>
              <a:rPr lang="en-US" sz="1000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Europe remains the most carbon-efficient region — consistent with the regional-intensity findings.</a:t>
            </a:r>
          </a:p>
        </p:txBody>
      </p:sp>
      <p:sp>
        <p:nvSpPr>
          <p:cNvPr id="20" name="Text 20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21" name="Text 21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 9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06 · LIVE DASHBOARD — TAB 3 OF 3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Emissions Drilldown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10573512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6" name="Shape 6"/>
          <p:cNvSpPr/>
          <p:nvPr/>
        </p:nvSpPr>
        <p:spPr>
          <a:xfrm>
            <a:off x="10948416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E6E0D2"/>
          </a:solidFill>
          <a:ln>
            <a:noFill/>
          </a:ln>
        </p:spPr>
      </p:sp>
      <p:sp>
        <p:nvSpPr>
          <p:cNvPr id="7" name="Shape 7"/>
          <p:cNvSpPr/>
          <p:nvPr/>
        </p:nvSpPr>
        <p:spPr>
          <a:xfrm>
            <a:off x="11323320" y="502920"/>
            <a:ext cx="320040" cy="54864"/>
          </a:xfrm>
          <a:prstGeom prst="roundRect">
            <a:avLst>
              <a:gd name="adj" fmla="val 50000"/>
            </a:avLst>
          </a:prstGeom>
          <a:solidFill>
            <a:srgbClr val="B8892B"/>
          </a:solidFill>
          <a:ln>
            <a:noFill/>
          </a:ln>
        </p:spPr>
      </p:sp>
      <p:sp>
        <p:nvSpPr>
          <p:cNvPr id="8" name="Shape 8"/>
          <p:cNvSpPr/>
          <p:nvPr/>
        </p:nvSpPr>
        <p:spPr>
          <a:xfrm>
            <a:off x="548640" y="1460120"/>
            <a:ext cx="7474320" cy="40993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pic>
        <p:nvPicPr>
          <p:cNvPr id="9" name="Image 9" descr="Emissions Drilldown dashboard 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97280"/>
            <a:ext cx="7200000" cy="3825000"/>
          </a:xfrm>
          <a:prstGeom prst="roundRect">
            <a:avLst>
              <a:gd name="adj" fmla="val 2500"/>
            </a:avLst>
          </a:prstGeom>
        </p:spPr>
      </p:pic>
      <p:sp>
        <p:nvSpPr>
          <p:cNvPr id="10" name="Shape 10"/>
          <p:cNvSpPr/>
          <p:nvPr/>
        </p:nvSpPr>
        <p:spPr>
          <a:xfrm>
            <a:off x="8251560" y="146012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1" name="Text 11"/>
          <p:cNvSpPr/>
          <p:nvPr/>
        </p:nvSpPr>
        <p:spPr>
          <a:xfrm>
            <a:off x="8388720" y="155156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9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Travel modes</a:t>
            </a:r>
          </a:p>
        </p:txBody>
      </p:sp>
      <p:sp>
        <p:nvSpPr>
          <p:cNvPr id="12" name="Shape 12"/>
          <p:cNvSpPr/>
          <p:nvPr/>
        </p:nvSpPr>
        <p:spPr>
          <a:xfrm>
            <a:off x="8251560" y="251924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3" name="Text 13"/>
          <p:cNvSpPr/>
          <p:nvPr/>
        </p:nvSpPr>
        <p:spPr>
          <a:xfrm>
            <a:off x="8388720" y="261068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D9694F"/>
                </a:solidFill>
                <a:latin typeface="Lora"/>
                <a:ea typeface="Lora"/>
                <a:cs typeface="Lora"/>
              </a:rPr>
              <a:t>2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Drive most CO₂e</a:t>
            </a:r>
          </a:p>
        </p:txBody>
      </p:sp>
      <p:sp>
        <p:nvSpPr>
          <p:cNvPr id="14" name="Shape 14"/>
          <p:cNvSpPr/>
          <p:nvPr/>
        </p:nvSpPr>
        <p:spPr>
          <a:xfrm>
            <a:off x="8251560" y="357836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8388720" y="366980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Train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Lowest emission</a:t>
            </a:r>
          </a:p>
        </p:txBody>
      </p:sp>
      <p:sp>
        <p:nvSpPr>
          <p:cNvPr id="16" name="Shape 16"/>
          <p:cNvSpPr/>
          <p:nvPr/>
        </p:nvSpPr>
        <p:spPr>
          <a:xfrm>
            <a:off x="8251560" y="4637480"/>
            <a:ext cx="3391800" cy="921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7" name="Text 17"/>
          <p:cNvSpPr/>
          <p:nvPr/>
        </p:nvSpPr>
        <p:spPr>
          <a:xfrm>
            <a:off x="8388720" y="4728920"/>
            <a:ext cx="3117480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1F8A5F"/>
                </a:solidFill>
                <a:latin typeface="Lora"/>
                <a:ea typeface="Lora"/>
                <a:cs typeface="Lora"/>
              </a:rPr>
              <a:t>2</a:t>
            </a:r>
          </a:p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EV/hybrid options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5788040"/>
            <a:ext cx="11094720" cy="548640"/>
          </a:xfrm>
          <a:prstGeom prst="roundRect">
            <a:avLst>
              <a:gd name="adj" fmla="val 9000"/>
            </a:avLst>
          </a:prstGeom>
          <a:solidFill>
            <a:srgbClr val="F5EBD6"/>
          </a:solidFill>
          <a:ln w="12700">
            <a:solidFill>
              <a:srgbClr val="E6E0D2"/>
            </a:solidFill>
          </a:ln>
        </p:spPr>
      </p:sp>
      <p:sp>
        <p:nvSpPr>
          <p:cNvPr id="19" name="Text 19"/>
          <p:cNvSpPr/>
          <p:nvPr/>
        </p:nvSpPr>
        <p:spPr>
          <a:xfrm>
            <a:off x="731520" y="5788040"/>
            <a:ext cx="1072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B8892B"/>
                </a:solidFill>
                <a:latin typeface="Poppins"/>
                <a:ea typeface="Poppins"/>
                <a:cs typeface="Poppins"/>
              </a:rPr>
              <a:t>Key insight:  </a:t>
            </a:r>
            <a:r>
              <a:rPr lang="en-US" sz="1000" dirty="0">
                <a:solidFill>
                  <a:srgbClr val="1C2620"/>
                </a:solidFill>
                <a:latin typeface="Poppins"/>
                <a:ea typeface="Poppins"/>
                <a:cs typeface="Poppins"/>
              </a:rPr>
              <a:t>Business and Economy Class flights dominate the footprint — rail-shift is the highest-leverage lever.</a:t>
            </a:r>
          </a:p>
        </p:txBody>
      </p:sp>
      <p:sp>
        <p:nvSpPr>
          <p:cNvPr id="20" name="Text 20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21" name="Text 21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09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ech Stack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548640" y="411480"/>
            <a:ext cx="1109472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8A5F"/>
                </a:solidFill>
                <a:latin typeface="Poppins"/>
                <a:ea typeface="Poppins"/>
                <a:cs typeface="Poppins"/>
              </a:rPr>
              <a:t>07 · TOOLS &amp; TECH STACK</a:t>
            </a:r>
          </a:p>
        </p:txBody>
      </p:sp>
      <p:sp>
        <p:nvSpPr>
          <p:cNvPr id="3" name="Text 3"/>
          <p:cNvSpPr/>
          <p:nvPr/>
        </p:nvSpPr>
        <p:spPr>
          <a:xfrm>
            <a:off x="548640" y="731520"/>
            <a:ext cx="1109472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Built With</a:t>
            </a:r>
          </a:p>
        </p:txBody>
      </p:sp>
      <p:sp>
        <p:nvSpPr>
          <p:cNvPr id="4" name="Line 4"/>
          <p:cNvSpPr/>
          <p:nvPr/>
        </p:nvSpPr>
        <p:spPr>
          <a:xfrm>
            <a:off x="548640" y="1277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5" name="Shape 5"/>
          <p:cNvSpPr/>
          <p:nvPr/>
        </p:nvSpPr>
        <p:spPr>
          <a:xfrm>
            <a:off x="548640" y="1460120"/>
            <a:ext cx="260223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6" name="Text 6"/>
          <p:cNvSpPr/>
          <p:nvPr/>
        </p:nvSpPr>
        <p:spPr>
          <a:xfrm>
            <a:off x="731520" y="1688720"/>
            <a:ext cx="223647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Celonis</a:t>
            </a:r>
          </a:p>
        </p:txBody>
      </p:sp>
      <p:sp>
        <p:nvSpPr>
          <p:cNvPr id="7" name="Text 7"/>
          <p:cNvSpPr/>
          <p:nvPr/>
        </p:nvSpPr>
        <p:spPr>
          <a:xfrm>
            <a:off x="731520" y="2260120"/>
            <a:ext cx="223647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Process mining, PQL, live dashboarding</a:t>
            </a:r>
          </a:p>
        </p:txBody>
      </p:sp>
      <p:sp>
        <p:nvSpPr>
          <p:cNvPr id="8" name="Shape 8"/>
          <p:cNvSpPr/>
          <p:nvPr/>
        </p:nvSpPr>
        <p:spPr>
          <a:xfrm>
            <a:off x="3379470" y="1460120"/>
            <a:ext cx="260223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9" name="Text 9"/>
          <p:cNvSpPr/>
          <p:nvPr/>
        </p:nvSpPr>
        <p:spPr>
          <a:xfrm>
            <a:off x="3562350" y="1688720"/>
            <a:ext cx="223647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Python</a:t>
            </a:r>
          </a:p>
        </p:txBody>
      </p:sp>
      <p:sp>
        <p:nvSpPr>
          <p:cNvPr id="10" name="Text 10"/>
          <p:cNvSpPr/>
          <p:nvPr/>
        </p:nvSpPr>
        <p:spPr>
          <a:xfrm>
            <a:off x="3562350" y="2260120"/>
            <a:ext cx="223647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Data processing &amp; feature engineering</a:t>
            </a:r>
          </a:p>
        </p:txBody>
      </p:sp>
      <p:sp>
        <p:nvSpPr>
          <p:cNvPr id="11" name="Shape 11"/>
          <p:cNvSpPr/>
          <p:nvPr/>
        </p:nvSpPr>
        <p:spPr>
          <a:xfrm>
            <a:off x="6210300" y="1460120"/>
            <a:ext cx="260223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2" name="Text 12"/>
          <p:cNvSpPr/>
          <p:nvPr/>
        </p:nvSpPr>
        <p:spPr>
          <a:xfrm>
            <a:off x="6393180" y="1688720"/>
            <a:ext cx="223647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XGBoost</a:t>
            </a:r>
          </a:p>
        </p:txBody>
      </p:sp>
      <p:sp>
        <p:nvSpPr>
          <p:cNvPr id="13" name="Text 13"/>
          <p:cNvSpPr/>
          <p:nvPr/>
        </p:nvSpPr>
        <p:spPr>
          <a:xfrm>
            <a:off x="6393180" y="2260120"/>
            <a:ext cx="223647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Gradient-boosted classification model</a:t>
            </a:r>
          </a:p>
        </p:txBody>
      </p:sp>
      <p:sp>
        <p:nvSpPr>
          <p:cNvPr id="14" name="Shape 14"/>
          <p:cNvSpPr/>
          <p:nvPr/>
        </p:nvSpPr>
        <p:spPr>
          <a:xfrm>
            <a:off x="9041130" y="1460120"/>
            <a:ext cx="260223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sx="100000" sy="100000" kx="0" ky="0" algn="bl" rotWithShape="0" blurRad="127000" dist="34000" dir="5400000">
              <a:srgbClr val="0B2318">
                <a:alpha val="10000"/>
              </a:srgbClr>
            </a:outerShdw>
          </a:effectLst>
        </p:spPr>
      </p:sp>
      <p:sp>
        <p:nvSpPr>
          <p:cNvPr id="15" name="Text 15"/>
          <p:cNvSpPr/>
          <p:nvPr/>
        </p:nvSpPr>
        <p:spPr>
          <a:xfrm>
            <a:off x="9224010" y="1688720"/>
            <a:ext cx="223647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3D2E"/>
                </a:solidFill>
                <a:latin typeface="Lora"/>
                <a:ea typeface="Lora"/>
                <a:cs typeface="Lora"/>
              </a:rPr>
              <a:t>Pandas / NumPy</a:t>
            </a:r>
          </a:p>
        </p:txBody>
      </p:sp>
      <p:sp>
        <p:nvSpPr>
          <p:cNvPr id="16" name="Text 16"/>
          <p:cNvSpPr/>
          <p:nvPr/>
        </p:nvSpPr>
        <p:spPr>
          <a:xfrm>
            <a:off x="9224010" y="2260120"/>
            <a:ext cx="223647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Data wrangling &amp; analysis</a:t>
            </a:r>
          </a:p>
        </p:txBody>
      </p:sp>
      <p:sp>
        <p:nvSpPr>
          <p:cNvPr id="17" name="Line 17"/>
          <p:cNvSpPr/>
          <p:nvPr/>
        </p:nvSpPr>
        <p:spPr>
          <a:xfrm>
            <a:off x="548640" y="3563240"/>
            <a:ext cx="11094720" cy="0"/>
          </a:xfrm>
          <a:prstGeom prst="line">
            <a:avLst/>
          </a:prstGeom>
          <a:noFill/>
          <a:ln w="9525">
            <a:solidFill>
              <a:srgbClr val="E6E0D2"/>
            </a:solidFill>
          </a:ln>
        </p:spPr>
      </p:sp>
      <p:sp>
        <p:nvSpPr>
          <p:cNvPr id="18" name="Text 18"/>
          <p:cNvSpPr/>
          <p:nvPr/>
        </p:nvSpPr>
        <p:spPr>
          <a:xfrm>
            <a:off x="548640" y="388328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1300" b="1" dirty="0">
                <a:solidFill>
                  <a:srgbClr val="1C2620"/>
                </a:solidFill>
                <a:latin typeface="Lora"/>
                <a:ea typeface="Lora"/>
                <a:cs typeface="Lora"/>
              </a:rPr>
              <a:t>Summary</a:t>
            </a:r>
          </a:p>
          <a:p>
            <a:pPr algn="l" indent="0" marL="0">
              <a:lnSpc>
                <a:spcPct val="136000"/>
              </a:lnSpc>
              <a:buNone/>
            </a:pPr>
            <a:r>
              <a:rPr lang="en-US" sz="105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A process-mining foundation, a leakage-safe predictive model, and a self-serve dashboard — combined into one system that turns a historical emissions report into an ongoing decision-support tool.</a:t>
            </a:r>
          </a:p>
        </p:txBody>
      </p:sp>
      <p:sp>
        <p:nvSpPr>
          <p:cNvPr id="19" name="Text 19"/>
          <p:cNvSpPr/>
          <p:nvPr/>
        </p:nvSpPr>
        <p:spPr>
          <a:xfrm>
            <a:off x="548640" y="6537960"/>
            <a:ext cx="6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Decarbonizing Travel · Project Case Study</a:t>
            </a:r>
          </a:p>
        </p:txBody>
      </p:sp>
      <p:sp>
        <p:nvSpPr>
          <p:cNvPr id="20" name="Text 20"/>
          <p:cNvSpPr/>
          <p:nvPr/>
        </p:nvSpPr>
        <p:spPr>
          <a:xfrm>
            <a:off x="10843360" y="6537960"/>
            <a:ext cx="8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E7B72"/>
                </a:solidFill>
                <a:latin typeface="Poppins"/>
                <a:ea typeface="Poppins"/>
                <a:cs typeface="Poppins"/>
              </a:rPr>
              <a:t>10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Decarbonizing Travel — Project Case Study</dc:title>
  <dc:subject>Data Analytics Case Study</dc:subject>
  <dc:creator/>
  <cp:lastModifiedBy/>
  <cp:revision>1</cp:revision>
  <dcterms:created xsi:type="dcterms:W3CDTF">2026-07-09T08:16:07Z</dcterms:created>
  <dcterms:modified xsi:type="dcterms:W3CDTF">2026-07-09T08:16:07Z</dcterms:modified>
</cp:coreProperties>
</file>